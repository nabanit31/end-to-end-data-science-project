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2000"/>
  <p:notesSz cx="6858000" cy="9144000"/>
  <p:embeddedFontLst>
    <p:embeddedFont>
      <p:font typeface="Inter SemiBold"/>
      <p:regular r:id="rId17"/>
      <p:bold r:id="rId18"/>
      <p:italic r:id="rId19"/>
      <p:boldItalic r:id="rId20"/>
    </p:embeddedFont>
    <p:embeddedFont>
      <p:font typeface="Poppins"/>
      <p:regular r:id="rId21"/>
      <p:bold r:id="rId22"/>
      <p:italic r:id="rId23"/>
      <p:boldItalic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Poppins SemiBold"/>
      <p:regular r:id="rId29"/>
      <p:bold r:id="rId30"/>
      <p:italic r:id="rId31"/>
      <p:boldItalic r:id="rId32"/>
    </p:embeddedFont>
    <p:embeddedFont>
      <p:font typeface="Inter Medium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SemiBold-boldItalic.fntdata"/><Relationship Id="rId22" Type="http://schemas.openxmlformats.org/officeDocument/2006/relationships/font" Target="fonts/Poppins-bold.fntdata"/><Relationship Id="rId21" Type="http://schemas.openxmlformats.org/officeDocument/2006/relationships/font" Target="fonts/Poppins-regular.fntdata"/><Relationship Id="rId24" Type="http://schemas.openxmlformats.org/officeDocument/2006/relationships/font" Target="fonts/Poppins-boldItalic.fntdata"/><Relationship Id="rId23" Type="http://schemas.openxmlformats.org/officeDocument/2006/relationships/font" Target="fonts/Poppins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oppi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PoppinsSemiBold-italic.fntdata"/><Relationship Id="rId30" Type="http://schemas.openxmlformats.org/officeDocument/2006/relationships/font" Target="fonts/PoppinsSemiBold-bold.fntdata"/><Relationship Id="rId11" Type="http://schemas.openxmlformats.org/officeDocument/2006/relationships/slide" Target="slides/slide6.xml"/><Relationship Id="rId33" Type="http://schemas.openxmlformats.org/officeDocument/2006/relationships/font" Target="fonts/InterMedium-regular.fntdata"/><Relationship Id="rId10" Type="http://schemas.openxmlformats.org/officeDocument/2006/relationships/slide" Target="slides/slide5.xml"/><Relationship Id="rId32" Type="http://schemas.openxmlformats.org/officeDocument/2006/relationships/font" Target="fonts/Poppi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InterMedium-italic.fntdata"/><Relationship Id="rId12" Type="http://schemas.openxmlformats.org/officeDocument/2006/relationships/slide" Target="slides/slide7.xml"/><Relationship Id="rId34" Type="http://schemas.openxmlformats.org/officeDocument/2006/relationships/font" Target="fonts/InterMedium-bold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InterMedium-boldItalic.fntdata"/><Relationship Id="rId17" Type="http://schemas.openxmlformats.org/officeDocument/2006/relationships/font" Target="fonts/InterSemiBold-regular.fntdata"/><Relationship Id="rId16" Type="http://schemas.openxmlformats.org/officeDocument/2006/relationships/slide" Target="slides/slide11.xml"/><Relationship Id="rId19" Type="http://schemas.openxmlformats.org/officeDocument/2006/relationships/font" Target="fonts/InterSemiBold-italic.fntdata"/><Relationship Id="rId18" Type="http://schemas.openxmlformats.org/officeDocument/2006/relationships/font" Target="fonts/Inter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9.png"/><Relationship Id="rId9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Relationship Id="rId5" Type="http://schemas.openxmlformats.org/officeDocument/2006/relationships/image" Target="../media/image14.png"/><Relationship Id="rId6" Type="http://schemas.openxmlformats.org/officeDocument/2006/relationships/image" Target="../media/image13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29.png"/><Relationship Id="rId7" Type="http://schemas.openxmlformats.org/officeDocument/2006/relationships/image" Target="../media/image2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33.png"/><Relationship Id="rId7" Type="http://schemas.openxmlformats.org/officeDocument/2006/relationships/image" Target="../media/image37.png"/><Relationship Id="rId8" Type="http://schemas.openxmlformats.org/officeDocument/2006/relationships/image" Target="../media/image3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3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hyperlink" Target="https://github.com/Nabanit31/End-To-End-Data-Science-Project" TargetMode="External"/><Relationship Id="rId5" Type="http://schemas.openxmlformats.org/officeDocument/2006/relationships/hyperlink" Target="https://github.com/Nabanit31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Relationship Id="rId4" Type="http://schemas.openxmlformats.org/officeDocument/2006/relationships/image" Target="../media/image40.png"/><Relationship Id="rId5" Type="http://schemas.openxmlformats.org/officeDocument/2006/relationships/image" Target="../media/image38.png"/><Relationship Id="rId6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70434" y="2816572"/>
            <a:ext cx="9051131" cy="639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End-to-End Data Science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176462" y="3856583"/>
            <a:ext cx="7839075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Building a Production-Ready Machine Learning Pipeline with MLflow &amp; DagsHub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000500" y="4791385"/>
            <a:ext cx="41910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8B5CF6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DATA SCIENCE  |  MACHINE LEARNING  |  MLOPS</a:t>
            </a:r>
            <a:endParaRPr/>
          </a:p>
        </p:txBody>
      </p:sp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19712" y="2255490"/>
            <a:ext cx="161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5595937" y="2208907"/>
            <a:ext cx="12763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By Nabanit Roy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062537"/>
            <a:ext cx="5605462" cy="895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3712" y="2033587"/>
            <a:ext cx="458628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1919287"/>
            <a:ext cx="56054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Modern Machine Learning projects often fail due to structural complexity: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90625" y="2767012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Poor Reproducibility: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Difficult to replicate environment states and dataset splits.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90625" y="3500437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Untracked Experiments: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Metric changes and parameters get lost in Jupyter notebooks.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90625" y="4233862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Unorganized Pipelines: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Monolithic scripts instead of clean modular functions.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853237" y="2043112"/>
            <a:ext cx="4567237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28003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3" name="Google Shape;103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353377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62000" y="4267200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📂 Business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0" name="Google Shape;11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06278"/>
            <a:ext cx="3397150" cy="2474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97275" y="2606278"/>
            <a:ext cx="3397299" cy="24741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32700" y="2606278"/>
            <a:ext cx="3397150" cy="2474118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1352550" y="2901553"/>
            <a:ext cx="1590198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 Core ML Stack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073550" y="2901553"/>
            <a:ext cx="14001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MLOps Tools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708975" y="2901553"/>
            <a:ext cx="128016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06B6D4"/>
                </a:solidFill>
                <a:latin typeface="Poppins"/>
                <a:ea typeface="Poppins"/>
                <a:cs typeface="Poppins"/>
                <a:sym typeface="Poppins"/>
              </a:rPr>
              <a:t>Workspace</a:t>
            </a:r>
            <a:endParaRPr/>
          </a:p>
        </p:txBody>
      </p:sp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57275" y="2953940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38250" y="3406378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Python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238250" y="3779639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Pandas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238250" y="4152900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NumPy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1238250" y="4526160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Scikit-Learn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92550" y="295394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873525" y="3406378"/>
            <a:ext cx="2625774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MLflow Tracking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873525" y="3779639"/>
            <a:ext cx="2625774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MLflow Registry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4873525" y="4152900"/>
            <a:ext cx="2625774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DagsHub Remote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4873525" y="4526160"/>
            <a:ext cx="2625774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Git / GitHub</a:t>
            </a:r>
            <a:endParaRPr/>
          </a:p>
        </p:txBody>
      </p:sp>
      <p:pic>
        <p:nvPicPr>
          <p:cNvPr descr="image.png" id="127" name="Google Shape;127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27975" y="2953940"/>
            <a:ext cx="26670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5"/>
          <p:cNvSpPr txBox="1"/>
          <p:nvPr/>
        </p:nvSpPr>
        <p:spPr>
          <a:xfrm>
            <a:off x="8508950" y="3406378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VS Code IDE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8508950" y="3779639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Jupyter Notebooks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8508950" y="4152900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Conda Environments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8508950" y="4526160"/>
            <a:ext cx="26256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Bash Scripting</a:t>
            </a:r>
            <a:endParaRPr/>
          </a:p>
        </p:txBody>
      </p:sp>
      <p:pic>
        <p:nvPicPr>
          <p:cNvPr descr="image.png" id="132" name="Google Shape;13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46442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383768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21094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57275" y="458420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550" y="346442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550" y="383768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550" y="421094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2550" y="4584203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7975" y="3464421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7975" y="383768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7975" y="4210942"/>
            <a:ext cx="857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327975" y="4584203"/>
            <a:ext cx="857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🛠️ Technologies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Used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400175"/>
            <a:ext cx="10668000" cy="48863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6"/>
          <p:cNvSpPr txBox="1"/>
          <p:nvPr/>
        </p:nvSpPr>
        <p:spPr>
          <a:xfrm>
            <a:off x="762000" y="2580382"/>
            <a:ext cx="10668000" cy="289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2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workflow is structured into a clean pipeline of decoupled, independent scripts: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62000" y="4890938"/>
            <a:ext cx="10668000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Each component outputs standardized logs and metadata artifacts dynamically.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⚙️ Project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8" name="Google Shape;15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27074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1543088" y="2858950"/>
            <a:ext cx="1857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Data Ingestion Pipeline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625" y="27074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5162550" y="2787545"/>
            <a:ext cx="1543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Data Preprocessing</a:t>
            </a:r>
            <a:endParaRPr/>
          </a:p>
        </p:txBody>
      </p:sp>
      <p:pic>
        <p:nvPicPr>
          <p:cNvPr descr="image.png" id="163" name="Google Shape;16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5" y="27074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8782050" y="2827582"/>
            <a:ext cx="1562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Feature Engineering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0125" y="36337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1543050" y="3713857"/>
            <a:ext cx="185737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Model Training</a:t>
            </a:r>
            <a:endParaRPr/>
          </a:p>
        </p:txBody>
      </p:sp>
      <p:pic>
        <p:nvPicPr>
          <p:cNvPr descr="image.png" id="167" name="Google Shape;16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9625" y="36337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5162550" y="3713857"/>
            <a:ext cx="2371725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Robust Evaluation Metric Logs</a:t>
            </a:r>
            <a:endParaRPr/>
          </a:p>
        </p:txBody>
      </p:sp>
      <p:pic>
        <p:nvPicPr>
          <p:cNvPr descr="image.png" id="169" name="Google Shape;16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5" y="36337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8782050" y="3713857"/>
            <a:ext cx="2114550" cy="258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Central Exception Handling</a:t>
            </a:r>
            <a:endParaRPr/>
          </a:p>
        </p:txBody>
      </p:sp>
      <p:pic>
        <p:nvPicPr>
          <p:cNvPr descr="image.png" id="171" name="Google Shape;17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45600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1504950" y="4631532"/>
            <a:ext cx="19242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MLflow Experiment Runs</a:t>
            </a:r>
            <a:endParaRPr/>
          </a:p>
        </p:txBody>
      </p:sp>
      <p:pic>
        <p:nvPicPr>
          <p:cNvPr descr="image.png" id="173" name="Google Shape;173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19625" y="4488712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7"/>
          <p:cNvSpPr txBox="1"/>
          <p:nvPr/>
        </p:nvSpPr>
        <p:spPr>
          <a:xfrm>
            <a:off x="5162625" y="4600145"/>
            <a:ext cx="18861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DagsHub Cloud Storage</a:t>
            </a:r>
            <a:endParaRPr/>
          </a:p>
        </p:txBody>
      </p:sp>
      <p:pic>
        <p:nvPicPr>
          <p:cNvPr descr="image.png" id="175" name="Google Shape;17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39125" y="4560087"/>
            <a:ext cx="3905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7"/>
          <p:cNvSpPr txBox="1"/>
          <p:nvPr/>
        </p:nvSpPr>
        <p:spPr>
          <a:xfrm>
            <a:off x="8782200" y="4662907"/>
            <a:ext cx="17430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F1F5F9"/>
                </a:solidFill>
                <a:latin typeface="Inter Medium"/>
                <a:ea typeface="Inter Medium"/>
                <a:cs typeface="Inter Medium"/>
                <a:sym typeface="Inter Medium"/>
              </a:rPr>
              <a:t>Modular File Structure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🚀 Key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Features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Implemented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2" name="Google Shape;18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3712" y="2033587"/>
            <a:ext cx="4586287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762000" y="2509837"/>
            <a:ext cx="5605462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Integrating MLflow allowed exact tracking across all active runs:</a:t>
            </a:r>
            <a:endParaRPr/>
          </a:p>
        </p:txBody>
      </p:sp>
      <p:sp>
        <p:nvSpPr>
          <p:cNvPr id="185" name="Google Shape;185;p18"/>
          <p:cNvSpPr txBox="1"/>
          <p:nvPr/>
        </p:nvSpPr>
        <p:spPr>
          <a:xfrm>
            <a:off x="1190625" y="3357562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Run Parameters: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Auto-logs learning rates, alpha values, and network architectures.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1190625" y="4090987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Metric Visualizations: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Compares R², RMSE, and accuracy indexes on continuous metrics graphs.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1190625" y="4824412"/>
            <a:ext cx="5176837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Artifact Storage: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Directly stores pickle objects (.pkl) and model binaries.</a:t>
            </a:r>
            <a:endParaRPr/>
          </a:p>
        </p:txBody>
      </p:sp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3237" y="2043112"/>
            <a:ext cx="4567237" cy="3600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390900"/>
            <a:ext cx="18097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4124325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485775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8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📈 MLflow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Experiment</a:t>
            </a: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Tracking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7" name="Google Shape;19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19"/>
          <p:cNvSpPr txBox="1"/>
          <p:nvPr/>
        </p:nvSpPr>
        <p:spPr>
          <a:xfrm>
            <a:off x="762000" y="571500"/>
            <a:ext cx="56007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☁️ DagsHub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Integration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762000" y="1733550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Remote ML repository sync without local resource blockages.</a:t>
            </a:r>
            <a:endParaRPr/>
          </a:p>
        </p:txBody>
      </p:sp>
      <p:sp>
        <p:nvSpPr>
          <p:cNvPr id="201" name="Google Shape;201;p19"/>
          <p:cNvSpPr txBox="1"/>
          <p:nvPr/>
        </p:nvSpPr>
        <p:spPr>
          <a:xfrm>
            <a:off x="1190625" y="253365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Hosted MLflow tracking server natively.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1190625" y="294798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Unified space for shared team logging.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1190625" y="3362325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Completely reproducible code, data, and models.</a:t>
            </a:r>
            <a:endParaRPr/>
          </a:p>
        </p:txBody>
      </p:sp>
      <p:pic>
        <p:nvPicPr>
          <p:cNvPr descr="image.png" id="204" name="Google Shape;20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5669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2981325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2000" y="3395662"/>
            <a:ext cx="2095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1" name="Google Shape;21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2" name="Google Shape;21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662237"/>
            <a:ext cx="25241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3" name="Google Shape;21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76625" y="2662237"/>
            <a:ext cx="25241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91250" y="2662237"/>
            <a:ext cx="2524125" cy="2362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05875" y="2662237"/>
            <a:ext cx="2524125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0"/>
          <p:cNvSpPr txBox="1"/>
          <p:nvPr/>
        </p:nvSpPr>
        <p:spPr>
          <a:xfrm>
            <a:off x="1000125" y="3395662"/>
            <a:ext cx="2150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Data Science</a:t>
            </a:r>
            <a:endParaRPr/>
          </a:p>
        </p:txBody>
      </p:sp>
      <p:sp>
        <p:nvSpPr>
          <p:cNvPr id="217" name="Google Shape;217;p20"/>
          <p:cNvSpPr txBox="1"/>
          <p:nvPr/>
        </p:nvSpPr>
        <p:spPr>
          <a:xfrm>
            <a:off x="3714750" y="3395662"/>
            <a:ext cx="2150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 Engineering</a:t>
            </a:r>
            <a:endParaRPr/>
          </a:p>
        </p:txBody>
      </p:sp>
      <p:sp>
        <p:nvSpPr>
          <p:cNvPr id="218" name="Google Shape;218;p20"/>
          <p:cNvSpPr txBox="1"/>
          <p:nvPr/>
        </p:nvSpPr>
        <p:spPr>
          <a:xfrm>
            <a:off x="6429375" y="3395662"/>
            <a:ext cx="2150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MLOps</a:t>
            </a:r>
            <a:endParaRPr/>
          </a:p>
        </p:txBody>
      </p:sp>
      <p:sp>
        <p:nvSpPr>
          <p:cNvPr id="219" name="Google Shape;219;p20"/>
          <p:cNvSpPr txBox="1"/>
          <p:nvPr/>
        </p:nvSpPr>
        <p:spPr>
          <a:xfrm>
            <a:off x="9144000" y="3395662"/>
            <a:ext cx="2150268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Software Eng.</a:t>
            </a:r>
            <a:endParaRPr/>
          </a:p>
        </p:txBody>
      </p:sp>
      <p:pic>
        <p:nvPicPr>
          <p:cNvPr descr="image.png" id="220" name="Google Shape;220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0125" y="2928937"/>
            <a:ext cx="2476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1000125" y="39100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Cleaning</a:t>
            </a:r>
            <a:endParaRPr/>
          </a:p>
        </p:txBody>
      </p:sp>
      <p:sp>
        <p:nvSpPr>
          <p:cNvPr id="222" name="Google Shape;222;p20"/>
          <p:cNvSpPr txBox="1"/>
          <p:nvPr/>
        </p:nvSpPr>
        <p:spPr>
          <a:xfrm>
            <a:off x="1000125" y="423386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Transforming</a:t>
            </a:r>
            <a:endParaRPr/>
          </a:p>
        </p:txBody>
      </p:sp>
      <p:sp>
        <p:nvSpPr>
          <p:cNvPr id="223" name="Google Shape;223;p20"/>
          <p:cNvSpPr txBox="1"/>
          <p:nvPr/>
        </p:nvSpPr>
        <p:spPr>
          <a:xfrm>
            <a:off x="1000125" y="45577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Feature Eng.</a:t>
            </a:r>
            <a:endParaRPr/>
          </a:p>
        </p:txBody>
      </p:sp>
      <p:pic>
        <p:nvPicPr>
          <p:cNvPr descr="image.png" id="224" name="Google Shape;22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714750" y="2928937"/>
            <a:ext cx="2857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0"/>
          <p:cNvSpPr txBox="1"/>
          <p:nvPr/>
        </p:nvSpPr>
        <p:spPr>
          <a:xfrm>
            <a:off x="3714750" y="39100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Training</a:t>
            </a:r>
            <a:endParaRPr/>
          </a:p>
        </p:txBody>
      </p:sp>
      <p:sp>
        <p:nvSpPr>
          <p:cNvPr id="226" name="Google Shape;226;p20"/>
          <p:cNvSpPr txBox="1"/>
          <p:nvPr/>
        </p:nvSpPr>
        <p:spPr>
          <a:xfrm>
            <a:off x="3714750" y="423386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Regression</a:t>
            </a:r>
            <a:endParaRPr/>
          </a:p>
        </p:txBody>
      </p:sp>
      <p:sp>
        <p:nvSpPr>
          <p:cNvPr id="227" name="Google Shape;227;p20"/>
          <p:cNvSpPr txBox="1"/>
          <p:nvPr/>
        </p:nvSpPr>
        <p:spPr>
          <a:xfrm>
            <a:off x="3714750" y="45577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Validation</a:t>
            </a:r>
            <a:endParaRPr/>
          </a:p>
        </p:txBody>
      </p:sp>
      <p:pic>
        <p:nvPicPr>
          <p:cNvPr descr="image.png" id="228" name="Google Shape;22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29375" y="2928937"/>
            <a:ext cx="3619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429375" y="39100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MLflow</a:t>
            </a:r>
            <a:endParaRPr/>
          </a:p>
        </p:txBody>
      </p:sp>
      <p:sp>
        <p:nvSpPr>
          <p:cNvPr id="230" name="Google Shape;230;p20"/>
          <p:cNvSpPr txBox="1"/>
          <p:nvPr/>
        </p:nvSpPr>
        <p:spPr>
          <a:xfrm>
            <a:off x="6429375" y="423386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DagsHub</a:t>
            </a:r>
            <a:endParaRPr/>
          </a:p>
        </p:txBody>
      </p:sp>
      <p:sp>
        <p:nvSpPr>
          <p:cNvPr id="231" name="Google Shape;231;p20"/>
          <p:cNvSpPr txBox="1"/>
          <p:nvPr/>
        </p:nvSpPr>
        <p:spPr>
          <a:xfrm>
            <a:off x="6429375" y="45577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Tracking</a:t>
            </a:r>
            <a:endParaRPr/>
          </a:p>
        </p:txBody>
      </p:sp>
      <p:pic>
        <p:nvPicPr>
          <p:cNvPr descr="image.png" id="232" name="Google Shape;232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44000" y="2928937"/>
            <a:ext cx="32385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0"/>
          <p:cNvSpPr txBox="1"/>
          <p:nvPr/>
        </p:nvSpPr>
        <p:spPr>
          <a:xfrm>
            <a:off x="9144000" y="39100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Modularity</a:t>
            </a:r>
            <a:endParaRPr/>
          </a:p>
        </p:txBody>
      </p:sp>
      <p:sp>
        <p:nvSpPr>
          <p:cNvPr id="234" name="Google Shape;234;p20"/>
          <p:cNvSpPr txBox="1"/>
          <p:nvPr/>
        </p:nvSpPr>
        <p:spPr>
          <a:xfrm>
            <a:off x="9144000" y="423386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Logging</a:t>
            </a:r>
            <a:endParaRPr/>
          </a:p>
        </p:txBody>
      </p:sp>
      <p:sp>
        <p:nvSpPr>
          <p:cNvPr id="235" name="Google Shape;235;p20"/>
          <p:cNvSpPr txBox="1"/>
          <p:nvPr/>
        </p:nvSpPr>
        <p:spPr>
          <a:xfrm>
            <a:off x="9144000" y="4557712"/>
            <a:ext cx="20478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6B6D4"/>
                </a:solidFill>
                <a:latin typeface="Inter"/>
                <a:ea typeface="Inter"/>
                <a:cs typeface="Inter"/>
                <a:sym typeface="Inter"/>
              </a:rPr>
              <a:t>▪ </a:t>
            </a:r>
            <a:r>
              <a:rPr b="0" i="0" lang="en-US" sz="1125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Exceptions</a:t>
            </a:r>
            <a:endParaRPr/>
          </a:p>
        </p:txBody>
      </p:sp>
      <p:sp>
        <p:nvSpPr>
          <p:cNvPr id="236" name="Google Shape;236;p20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🧠 Skills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Demonstrated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2238375" y="2400300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Production Pipeline Structure: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Learned how real-world ML pipelines are structured as decoupled scripts rather than bloated notebooks.</a:t>
            </a:r>
            <a:endParaRPr/>
          </a:p>
        </p:txBody>
      </p:sp>
      <p:sp>
        <p:nvSpPr>
          <p:cNvPr id="243" name="Google Shape;243;p21"/>
          <p:cNvSpPr txBox="1"/>
          <p:nvPr/>
        </p:nvSpPr>
        <p:spPr>
          <a:xfrm>
            <a:off x="2238375" y="3181350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Rigorous Tracking Value: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Experienced firsthand how experiment tracking dramatically reduces time when comparing multi-model performance.</a:t>
            </a:r>
            <a:endParaRPr/>
          </a:p>
        </p:txBody>
      </p:sp>
      <p:sp>
        <p:nvSpPr>
          <p:cNvPr id="244" name="Google Shape;244;p21"/>
          <p:cNvSpPr txBox="1"/>
          <p:nvPr/>
        </p:nvSpPr>
        <p:spPr>
          <a:xfrm>
            <a:off x="2238375" y="3962400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True Reproducibility: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Gained strong practices on linking Git code versioning with dataset releases.</a:t>
            </a:r>
            <a:endParaRPr/>
          </a:p>
        </p:txBody>
      </p:sp>
      <p:sp>
        <p:nvSpPr>
          <p:cNvPr id="245" name="Google Shape;245;p21"/>
          <p:cNvSpPr txBox="1"/>
          <p:nvPr/>
        </p:nvSpPr>
        <p:spPr>
          <a:xfrm>
            <a:off x="2238375" y="4743450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Clean Coding Standard: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Strengthened knowledge of logging, customized error messages, and robust exception handler classes.</a:t>
            </a:r>
            <a:endParaRPr/>
          </a:p>
        </p:txBody>
      </p:sp>
      <p:pic>
        <p:nvPicPr>
          <p:cNvPr descr="image.png" id="246" name="Google Shape;246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3840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21945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000500"/>
            <a:ext cx="1619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781550"/>
            <a:ext cx="16192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1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🎯 Key Project </a:t>
            </a:r>
            <a:r>
              <a:rPr b="0" i="0" lang="en-US" sz="2850" u="none" cap="none" strike="noStrike">
                <a:solidFill>
                  <a:srgbClr val="06B6D4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Learnings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2"/>
          <p:cNvSpPr txBox="1"/>
          <p:nvPr/>
        </p:nvSpPr>
        <p:spPr>
          <a:xfrm>
            <a:off x="762000" y="952500"/>
            <a:ext cx="106680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 You </a:t>
            </a:r>
            <a:r>
              <a:rPr b="1" lang="en-US" sz="5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🚀</a:t>
            </a:r>
            <a:endParaRPr b="1" sz="6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-US" sz="1800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Let's collaborate on building the future of robust ML platforms!</a:t>
            </a:r>
            <a:endParaRPr b="0" sz="1800">
              <a:solidFill>
                <a:srgbClr val="94A3B8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257" name="Google Shape;257;p22"/>
          <p:cNvGrpSpPr/>
          <p:nvPr/>
        </p:nvGrpSpPr>
        <p:grpSpPr>
          <a:xfrm>
            <a:off x="762000" y="4191000"/>
            <a:ext cx="10668000" cy="1028700"/>
            <a:chOff x="762000" y="4191000"/>
            <a:chExt cx="10668000" cy="1028700"/>
          </a:xfrm>
        </p:grpSpPr>
        <p:sp>
          <p:nvSpPr>
            <p:cNvPr id="258" name="Google Shape;258;p22"/>
            <p:cNvSpPr txBox="1"/>
            <p:nvPr/>
          </p:nvSpPr>
          <p:spPr>
            <a:xfrm>
              <a:off x="762000" y="4191000"/>
              <a:ext cx="10668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8B5CF6"/>
                  </a:solidFill>
                  <a:latin typeface="Poppins"/>
                  <a:ea typeface="Poppins"/>
                  <a:cs typeface="Poppins"/>
                  <a:sym typeface="Poppins"/>
                </a:rPr>
                <a:t>OPEN TO OPPORTUNITIES IN</a:t>
              </a:r>
              <a:endParaRPr b="1" sz="1400">
                <a:solidFill>
                  <a:srgbClr val="8B5CF6"/>
                </a:solidFill>
                <a:latin typeface="Poppins"/>
                <a:ea typeface="Poppins"/>
                <a:cs typeface="Poppins"/>
                <a:sym typeface="Poppins"/>
              </a:endParaRPr>
            </a:p>
          </p:txBody>
        </p:sp>
        <p:sp>
          <p:nvSpPr>
            <p:cNvPr id="259" name="Google Shape;259;p22"/>
            <p:cNvSpPr/>
            <p:nvPr/>
          </p:nvSpPr>
          <p:spPr>
            <a:xfrm>
              <a:off x="1714500" y="4762500"/>
              <a:ext cx="2000100" cy="457200"/>
            </a:xfrm>
            <a:prstGeom prst="roundRect">
              <a:avLst>
                <a:gd fmla="val 50000" name="adj"/>
              </a:avLst>
            </a:prstGeom>
            <a:solidFill>
              <a:srgbClr val="06B6D4">
                <a:alpha val="10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2"/>
            <p:cNvSpPr txBox="1"/>
            <p:nvPr/>
          </p:nvSpPr>
          <p:spPr>
            <a:xfrm>
              <a:off x="1714500" y="4762500"/>
              <a:ext cx="200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6B6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 Science</a:t>
              </a:r>
              <a:endParaRPr b="0" sz="12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61" name="Google Shape;261;p22"/>
            <p:cNvSpPr/>
            <p:nvPr/>
          </p:nvSpPr>
          <p:spPr>
            <a:xfrm>
              <a:off x="3905250" y="4762500"/>
              <a:ext cx="2000100" cy="457200"/>
            </a:xfrm>
            <a:prstGeom prst="roundRect">
              <a:avLst>
                <a:gd fmla="val 50000" name="adj"/>
              </a:avLst>
            </a:prstGeom>
            <a:solidFill>
              <a:srgbClr val="06B6D4">
                <a:alpha val="10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2"/>
            <p:cNvSpPr txBox="1"/>
            <p:nvPr/>
          </p:nvSpPr>
          <p:spPr>
            <a:xfrm>
              <a:off x="3905250" y="4762500"/>
              <a:ext cx="200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6B6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Machine Learning</a:t>
              </a:r>
              <a:endParaRPr b="0" sz="12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63" name="Google Shape;263;p22"/>
            <p:cNvSpPr/>
            <p:nvPr/>
          </p:nvSpPr>
          <p:spPr>
            <a:xfrm>
              <a:off x="6096000" y="4762500"/>
              <a:ext cx="2000100" cy="457200"/>
            </a:xfrm>
            <a:prstGeom prst="roundRect">
              <a:avLst>
                <a:gd fmla="val 50000" name="adj"/>
              </a:avLst>
            </a:prstGeom>
            <a:solidFill>
              <a:srgbClr val="06B6D4">
                <a:alpha val="10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22"/>
            <p:cNvSpPr txBox="1"/>
            <p:nvPr/>
          </p:nvSpPr>
          <p:spPr>
            <a:xfrm>
              <a:off x="6096000" y="4762500"/>
              <a:ext cx="200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6B6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Data Analytics</a:t>
              </a:r>
              <a:endParaRPr b="0" sz="12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  <p:sp>
          <p:nvSpPr>
            <p:cNvPr id="265" name="Google Shape;265;p22"/>
            <p:cNvSpPr/>
            <p:nvPr/>
          </p:nvSpPr>
          <p:spPr>
            <a:xfrm>
              <a:off x="8286750" y="4762500"/>
              <a:ext cx="2000100" cy="457200"/>
            </a:xfrm>
            <a:prstGeom prst="roundRect">
              <a:avLst>
                <a:gd fmla="val 50000" name="adj"/>
              </a:avLst>
            </a:prstGeom>
            <a:solidFill>
              <a:srgbClr val="06B6D4">
                <a:alpha val="10000"/>
              </a:srgbClr>
            </a:solidFill>
            <a:ln cap="flat" cmpd="sng" w="14300">
              <a:solidFill>
                <a:srgbClr val="06B6D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8286750" y="4762500"/>
              <a:ext cx="2000100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200">
                  <a:solidFill>
                    <a:srgbClr val="06B6D4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MLOps</a:t>
              </a:r>
              <a:endParaRPr b="0" sz="1200">
                <a:solidFill>
                  <a:srgbClr val="06B6D4"/>
                </a:solidFill>
                <a:latin typeface="Inter Medium"/>
                <a:ea typeface="Inter Medium"/>
                <a:cs typeface="Inter Medium"/>
                <a:sym typeface="Inter Medium"/>
              </a:endParaRPr>
            </a:p>
          </p:txBody>
        </p:sp>
      </p:grpSp>
      <p:sp>
        <p:nvSpPr>
          <p:cNvPr id="267" name="Google Shape;267;p22"/>
          <p:cNvSpPr txBox="1"/>
          <p:nvPr/>
        </p:nvSpPr>
        <p:spPr>
          <a:xfrm>
            <a:off x="2064275" y="3429000"/>
            <a:ext cx="7885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20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📂</a:t>
            </a:r>
            <a:r>
              <a:rPr b="0" i="0" lang="en-US" sz="1200" cap="none" strike="noStrike">
                <a:solidFill>
                  <a:schemeClr val="lt1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800" cap="none" strike="noStrike">
                <a:solidFill>
                  <a:schemeClr val="lt1"/>
                </a:solidFill>
                <a:uFill>
                  <a:noFill/>
                </a:uFill>
                <a:latin typeface="Inter SemiBold"/>
                <a:ea typeface="Inter SemiBold"/>
                <a:cs typeface="Inter SemiBold"/>
                <a:sym typeface="Inter SemiBol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Repository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200" u="none" cap="none" strike="noStrik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     </a:t>
            </a:r>
            <a:r>
              <a:rPr b="0" i="0" lang="en-US" sz="1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👤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r>
              <a:rPr b="0" i="0" lang="en-US" sz="1800" cap="none" strike="noStrike">
                <a:solidFill>
                  <a:schemeClr val="lt1"/>
                </a:solidFill>
                <a:uFill>
                  <a:noFill/>
                </a:uFill>
                <a:latin typeface="Inter SemiBold"/>
                <a:ea typeface="Inter SemiBold"/>
                <a:cs typeface="Inter SemiBold"/>
                <a:sym typeface="Inter SemiBol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 Profile</a:t>
            </a:r>
            <a:r>
              <a:rPr b="0" i="0" lang="en-US" sz="12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 </a:t>
            </a:r>
            <a:endParaRPr sz="120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3"/>
          <p:cNvSpPr/>
          <p:nvPr/>
        </p:nvSpPr>
        <p:spPr>
          <a:xfrm>
            <a:off x="762000" y="2670869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762000" y="3455640"/>
            <a:ext cx="10668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762000" y="344611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762000" y="344611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762000" y="423088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762000" y="4230885"/>
            <a:ext cx="10668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9" name="Google Shape;27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82029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3"/>
          <p:cNvSpPr txBox="1"/>
          <p:nvPr/>
        </p:nvSpPr>
        <p:spPr>
          <a:xfrm>
            <a:off x="1857375" y="2813744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https://docs.cloud.google.com/static/architecture/images/mlops-continuous-delivery-and-automation-pipelines-in-machine-learning-4-ml-automation-ci-cd.svg</a:t>
            </a:r>
            <a:endParaRPr/>
          </a:p>
        </p:txBody>
      </p:sp>
      <p:sp>
        <p:nvSpPr>
          <p:cNvPr id="281" name="Google Shape;281;p23"/>
          <p:cNvSpPr txBox="1"/>
          <p:nvPr/>
        </p:nvSpPr>
        <p:spPr>
          <a:xfrm>
            <a:off x="1857375" y="3059459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docs.cloud.google.com</a:t>
            </a:r>
            <a:endParaRPr/>
          </a:p>
        </p:txBody>
      </p:sp>
      <p:pic>
        <p:nvPicPr>
          <p:cNvPr descr="image.png" id="282" name="Google Shape;282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3605063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3"/>
          <p:cNvSpPr txBox="1"/>
          <p:nvPr/>
        </p:nvSpPr>
        <p:spPr>
          <a:xfrm>
            <a:off x="1857375" y="359851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https://mlflow.org/docs/latest/assets/images/tracking-metrics-ui-temp-ffc0da57b388076730e20207dbd7f9c4.png</a:t>
            </a:r>
            <a:endParaRPr/>
          </a:p>
        </p:txBody>
      </p:sp>
      <p:sp>
        <p:nvSpPr>
          <p:cNvPr id="284" name="Google Shape;284;p23"/>
          <p:cNvSpPr txBox="1"/>
          <p:nvPr/>
        </p:nvSpPr>
        <p:spPr>
          <a:xfrm>
            <a:off x="1857375" y="3844230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mlflow.org</a:t>
            </a:r>
            <a:endParaRPr/>
          </a:p>
        </p:txBody>
      </p:sp>
      <p:pic>
        <p:nvPicPr>
          <p:cNvPr descr="image.png" id="285" name="Google Shape;28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4389834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3"/>
          <p:cNvSpPr txBox="1"/>
          <p:nvPr/>
        </p:nvSpPr>
        <p:spPr>
          <a:xfrm>
            <a:off x="1857375" y="4383285"/>
            <a:ext cx="9572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https://dagshub.com/docs/use_cases/assets/track_ml_experiments/experiments_dagshub.jpeg</a:t>
            </a:r>
            <a:endParaRPr/>
          </a:p>
        </p:txBody>
      </p:sp>
      <p:sp>
        <p:nvSpPr>
          <p:cNvPr id="287" name="Google Shape;287;p23"/>
          <p:cNvSpPr txBox="1"/>
          <p:nvPr/>
        </p:nvSpPr>
        <p:spPr>
          <a:xfrm>
            <a:off x="1857375" y="4629001"/>
            <a:ext cx="9572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dagshub.com</a:t>
            </a:r>
            <a:endParaRPr/>
          </a:p>
        </p:txBody>
      </p:sp>
      <p:sp>
        <p:nvSpPr>
          <p:cNvPr id="288" name="Google Shape;288;p23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